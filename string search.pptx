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handoutMasterIdLst>
    <p:handoutMasterId r:id="rId11"/>
  </p:handoutMasterIdLst>
  <p:sldIdLst>
    <p:sldId id="256" r:id="rId2"/>
    <p:sldId id="257" r:id="rId3"/>
    <p:sldId id="260" r:id="rId4"/>
    <p:sldId id="259" r:id="rId5"/>
    <p:sldId id="261" r:id="rId6"/>
    <p:sldId id="262" r:id="rId7"/>
    <p:sldId id="263" r:id="rId8"/>
    <p:sldId id="264" r:id="rId9"/>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6">
          <p15:clr>
            <a:srgbClr val="A4A3A4"/>
          </p15:clr>
        </p15:guide>
        <p15:guide id="2" pos="4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4979"/>
    <a:srgbClr val="003257"/>
    <a:srgbClr val="00305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56" autoAdjust="0"/>
    <p:restoredTop sz="94704"/>
  </p:normalViewPr>
  <p:slideViewPr>
    <p:cSldViewPr snapToGrid="0" snapToObjects="1">
      <p:cViewPr varScale="1">
        <p:scale>
          <a:sx n="120" d="100"/>
          <a:sy n="120" d="100"/>
        </p:scale>
        <p:origin x="1608" y="176"/>
      </p:cViewPr>
      <p:guideLst>
        <p:guide orient="horz" pos="1806"/>
        <p:guide pos="45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5BF3CCC-77DD-F84F-A249-CA3C5045A043}" type="datetime1">
              <a:rPr lang="it-IT" smtClean="0"/>
              <a:pPr/>
              <a:t>11/01/26</a:t>
            </a:fld>
            <a:endParaRPr lang="it-IT"/>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ACFBF69-E6D8-384B-B1CC-31CC9EB4A4AC}" type="slidenum">
              <a:rPr lang="it-IT" smtClean="0"/>
              <a:pPr/>
              <a:t>‹N›</a:t>
            </a:fld>
            <a:endParaRPr lang="it-IT"/>
          </a:p>
        </p:txBody>
      </p:sp>
    </p:spTree>
    <p:extLst>
      <p:ext uri="{BB962C8B-B14F-4D97-AF65-F5344CB8AC3E}">
        <p14:creationId xmlns:p14="http://schemas.microsoft.com/office/powerpoint/2010/main" val="239148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692227-D6DC-FD45-9507-DB2BAD58473C}" type="datetime1">
              <a:rPr lang="it-IT" smtClean="0"/>
              <a:pPr/>
              <a:t>11/01/26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986711-015B-0142-88C4-65D50E44FA77}" type="slidenum">
              <a:rPr lang="it-IT" smtClean="0"/>
              <a:pPr/>
              <a:t>‹N›</a:t>
            </a:fld>
            <a:endParaRPr lang="it-IT"/>
          </a:p>
        </p:txBody>
      </p:sp>
    </p:spTree>
    <p:extLst>
      <p:ext uri="{BB962C8B-B14F-4D97-AF65-F5344CB8AC3E}">
        <p14:creationId xmlns:p14="http://schemas.microsoft.com/office/powerpoint/2010/main" val="216209625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fld id="{96986711-015B-0142-88C4-65D50E44FA77}" type="slidenum">
              <a:rPr lang="it-IT" smtClean="0"/>
              <a:pPr/>
              <a:t>2</a:t>
            </a:fld>
            <a:endParaRPr lang="it-IT"/>
          </a:p>
        </p:txBody>
      </p:sp>
    </p:spTree>
    <p:extLst>
      <p:ext uri="{BB962C8B-B14F-4D97-AF65-F5344CB8AC3E}">
        <p14:creationId xmlns:p14="http://schemas.microsoft.com/office/powerpoint/2010/main" val="3156239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31D64-2521-9616-C8C7-D99E50D29F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0DE2FEE-CB22-FF96-BA3E-0FB1380AA97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41EC1D9-5FDC-8F8E-C869-2CCA39AD2F61}"/>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6221EB7-1628-AD3B-9327-33458574123D}"/>
              </a:ext>
            </a:extLst>
          </p:cNvPr>
          <p:cNvSpPr>
            <a:spLocks noGrp="1"/>
          </p:cNvSpPr>
          <p:nvPr>
            <p:ph type="sldNum" sz="quarter" idx="10"/>
          </p:nvPr>
        </p:nvSpPr>
        <p:spPr/>
        <p:txBody>
          <a:bodyPr/>
          <a:lstStyle/>
          <a:p>
            <a:fld id="{96986711-015B-0142-88C4-65D50E44FA77}" type="slidenum">
              <a:rPr lang="it-IT" smtClean="0"/>
              <a:pPr/>
              <a:t>3</a:t>
            </a:fld>
            <a:endParaRPr lang="it-IT"/>
          </a:p>
        </p:txBody>
      </p:sp>
    </p:spTree>
    <p:extLst>
      <p:ext uri="{BB962C8B-B14F-4D97-AF65-F5344CB8AC3E}">
        <p14:creationId xmlns:p14="http://schemas.microsoft.com/office/powerpoint/2010/main" val="4063117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50485-50E2-B145-2182-3939DF40C9E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D1ED977-8173-B0E6-6B66-9A65DCF1F45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35BFBB7-4042-A7E6-B69E-297C172946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560C1F8-6BFC-8DC9-B7D4-2381F5E5D0CF}"/>
              </a:ext>
            </a:extLst>
          </p:cNvPr>
          <p:cNvSpPr>
            <a:spLocks noGrp="1"/>
          </p:cNvSpPr>
          <p:nvPr>
            <p:ph type="sldNum" sz="quarter" idx="10"/>
          </p:nvPr>
        </p:nvSpPr>
        <p:spPr/>
        <p:txBody>
          <a:bodyPr/>
          <a:lstStyle/>
          <a:p>
            <a:fld id="{96986711-015B-0142-88C4-65D50E44FA77}" type="slidenum">
              <a:rPr lang="it-IT" smtClean="0"/>
              <a:pPr/>
              <a:t>4</a:t>
            </a:fld>
            <a:endParaRPr lang="it-IT"/>
          </a:p>
        </p:txBody>
      </p:sp>
    </p:spTree>
    <p:extLst>
      <p:ext uri="{BB962C8B-B14F-4D97-AF65-F5344CB8AC3E}">
        <p14:creationId xmlns:p14="http://schemas.microsoft.com/office/powerpoint/2010/main" val="3827373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77159-53DF-86EE-EE57-D623C64E2A5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16D0426-01F1-DD99-87D5-F5EBB6B6533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942911A-C668-405D-6717-1D5695A512E4}"/>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A3AD75D-3B28-694E-0FDA-8DCB733091E4}"/>
              </a:ext>
            </a:extLst>
          </p:cNvPr>
          <p:cNvSpPr>
            <a:spLocks noGrp="1"/>
          </p:cNvSpPr>
          <p:nvPr>
            <p:ph type="sldNum" sz="quarter" idx="10"/>
          </p:nvPr>
        </p:nvSpPr>
        <p:spPr/>
        <p:txBody>
          <a:bodyPr/>
          <a:lstStyle/>
          <a:p>
            <a:fld id="{96986711-015B-0142-88C4-65D50E44FA77}" type="slidenum">
              <a:rPr lang="it-IT" smtClean="0"/>
              <a:pPr/>
              <a:t>5</a:t>
            </a:fld>
            <a:endParaRPr lang="it-IT"/>
          </a:p>
        </p:txBody>
      </p:sp>
    </p:spTree>
    <p:extLst>
      <p:ext uri="{BB962C8B-B14F-4D97-AF65-F5344CB8AC3E}">
        <p14:creationId xmlns:p14="http://schemas.microsoft.com/office/powerpoint/2010/main" val="1794383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7D74-FA34-2A70-4367-8B643C27EFB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B794934-F78E-86C3-3CC1-5D588B6372D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1BBA4EF-F0F9-7684-7D67-AE567429AFB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2A269B3-9336-334B-D7BC-A4CD07346862}"/>
              </a:ext>
            </a:extLst>
          </p:cNvPr>
          <p:cNvSpPr>
            <a:spLocks noGrp="1"/>
          </p:cNvSpPr>
          <p:nvPr>
            <p:ph type="sldNum" sz="quarter" idx="10"/>
          </p:nvPr>
        </p:nvSpPr>
        <p:spPr/>
        <p:txBody>
          <a:bodyPr/>
          <a:lstStyle/>
          <a:p>
            <a:fld id="{96986711-015B-0142-88C4-65D50E44FA77}" type="slidenum">
              <a:rPr lang="it-IT" smtClean="0"/>
              <a:pPr/>
              <a:t>6</a:t>
            </a:fld>
            <a:endParaRPr lang="it-IT"/>
          </a:p>
        </p:txBody>
      </p:sp>
    </p:spTree>
    <p:extLst>
      <p:ext uri="{BB962C8B-B14F-4D97-AF65-F5344CB8AC3E}">
        <p14:creationId xmlns:p14="http://schemas.microsoft.com/office/powerpoint/2010/main" val="2146341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E0CD6-015E-CD57-9DB7-1543246D02B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92AA3FD-A929-9C52-EB7C-535A6CB0327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F6EC93D-CA48-69CD-4107-BF32E115EA3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BB9FC7D-5585-12B0-F707-8FBF20804E09}"/>
              </a:ext>
            </a:extLst>
          </p:cNvPr>
          <p:cNvSpPr>
            <a:spLocks noGrp="1"/>
          </p:cNvSpPr>
          <p:nvPr>
            <p:ph type="sldNum" sz="quarter" idx="10"/>
          </p:nvPr>
        </p:nvSpPr>
        <p:spPr/>
        <p:txBody>
          <a:bodyPr/>
          <a:lstStyle/>
          <a:p>
            <a:fld id="{96986711-015B-0142-88C4-65D50E44FA77}" type="slidenum">
              <a:rPr lang="it-IT" smtClean="0"/>
              <a:pPr/>
              <a:t>7</a:t>
            </a:fld>
            <a:endParaRPr lang="it-IT"/>
          </a:p>
        </p:txBody>
      </p:sp>
    </p:spTree>
    <p:extLst>
      <p:ext uri="{BB962C8B-B14F-4D97-AF65-F5344CB8AC3E}">
        <p14:creationId xmlns:p14="http://schemas.microsoft.com/office/powerpoint/2010/main" val="568594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6A396-A235-EEE1-D63A-6CE08C7090E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DDCE46C-F138-93EF-0324-4DFEC48F21A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9181B08-4F42-D051-5788-A4C98C769493}"/>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61C75A71-C9D0-4332-0D31-45D2C531A4D1}"/>
              </a:ext>
            </a:extLst>
          </p:cNvPr>
          <p:cNvSpPr>
            <a:spLocks noGrp="1"/>
          </p:cNvSpPr>
          <p:nvPr>
            <p:ph type="sldNum" sz="quarter" idx="10"/>
          </p:nvPr>
        </p:nvSpPr>
        <p:spPr/>
        <p:txBody>
          <a:bodyPr/>
          <a:lstStyle/>
          <a:p>
            <a:fld id="{96986711-015B-0142-88C4-65D50E44FA77}" type="slidenum">
              <a:rPr lang="it-IT" smtClean="0"/>
              <a:pPr/>
              <a:t>8</a:t>
            </a:fld>
            <a:endParaRPr lang="it-IT"/>
          </a:p>
        </p:txBody>
      </p:sp>
    </p:spTree>
    <p:extLst>
      <p:ext uri="{BB962C8B-B14F-4D97-AF65-F5344CB8AC3E}">
        <p14:creationId xmlns:p14="http://schemas.microsoft.com/office/powerpoint/2010/main" val="270790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stile</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697240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85580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stile</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538374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AD8BF249-6BAC-CD40-AAE9-334F110649E5}" type="datetimeFigureOut">
              <a:rPr lang="it-IT" smtClean="0"/>
              <a:pPr/>
              <a:t>11/01/26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303381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AD8BF249-6BAC-CD40-AAE9-334F110649E5}" type="datetimeFigureOut">
              <a:rPr lang="it-IT" smtClean="0"/>
              <a:pPr/>
              <a:t>11/01/26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346963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p:txBody>
          <a:bodyPr/>
          <a:lstStyle/>
          <a:p>
            <a:fld id="{AD8BF249-6BAC-CD40-AAE9-334F110649E5}" type="datetimeFigureOut">
              <a:rPr lang="it-IT" smtClean="0"/>
              <a:pPr/>
              <a:t>11/01/26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93600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D8BF249-6BAC-CD40-AAE9-334F110649E5}" type="datetimeFigureOut">
              <a:rPr lang="it-IT" smtClean="0"/>
              <a:pPr/>
              <a:t>11/01/26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396321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stile</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AD8BF249-6BAC-CD40-AAE9-334F110649E5}" type="datetimeFigureOut">
              <a:rPr lang="it-IT" smtClean="0"/>
              <a:pPr/>
              <a:t>11/01/26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374890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stile</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AD8BF249-6BAC-CD40-AAE9-334F110649E5}" type="datetimeFigureOut">
              <a:rPr lang="it-IT" smtClean="0"/>
              <a:pPr/>
              <a:t>11/01/26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549643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4158563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3881774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stile</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8BF249-6BAC-CD40-AAE9-334F110649E5}" type="datetimeFigureOut">
              <a:rPr lang="it-IT" smtClean="0"/>
              <a:pPr/>
              <a:t>11/01/26</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B8520A-26EA-DE4B-B141-4532FC98FF0E}" type="slidenum">
              <a:rPr lang="it-IT" smtClean="0"/>
              <a:pPr/>
              <a:t>‹N›</a:t>
            </a:fld>
            <a:endParaRPr lang="it-IT"/>
          </a:p>
        </p:txBody>
      </p:sp>
    </p:spTree>
    <p:extLst>
      <p:ext uri="{BB962C8B-B14F-4D97-AF65-F5344CB8AC3E}">
        <p14:creationId xmlns:p14="http://schemas.microsoft.com/office/powerpoint/2010/main" val="4237915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p:cNvPicPr>
            <a:picLocks noChangeAspect="1"/>
          </p:cNvPicPr>
          <p:nvPr/>
        </p:nvPicPr>
        <p:blipFill>
          <a:blip r:embed="rId2"/>
          <a:stretch>
            <a:fillRect/>
          </a:stretch>
        </p:blipFill>
        <p:spPr>
          <a:xfrm>
            <a:off x="6038930" y="6347762"/>
            <a:ext cx="2545261" cy="522390"/>
          </a:xfrm>
          <a:prstGeom prst="rect">
            <a:avLst/>
          </a:prstGeom>
        </p:spPr>
      </p:pic>
      <p:pic>
        <p:nvPicPr>
          <p:cNvPr id="4" name="Immagine 3"/>
          <p:cNvPicPr>
            <a:picLocks noChangeAspect="1"/>
          </p:cNvPicPr>
          <p:nvPr/>
        </p:nvPicPr>
        <p:blipFill>
          <a:blip r:embed="rId3"/>
          <a:stretch>
            <a:fillRect/>
          </a:stretch>
        </p:blipFill>
        <p:spPr>
          <a:xfrm>
            <a:off x="0" y="3369"/>
            <a:ext cx="9144000" cy="6845300"/>
          </a:xfrm>
          <a:prstGeom prst="rect">
            <a:avLst/>
          </a:prstGeom>
        </p:spPr>
      </p:pic>
      <p:sp>
        <p:nvSpPr>
          <p:cNvPr id="8" name="CasellaDiTesto 7"/>
          <p:cNvSpPr txBox="1"/>
          <p:nvPr/>
        </p:nvSpPr>
        <p:spPr>
          <a:xfrm>
            <a:off x="4914900" y="2932536"/>
            <a:ext cx="3629617" cy="646331"/>
          </a:xfrm>
          <a:prstGeom prst="rect">
            <a:avLst/>
          </a:prstGeom>
          <a:noFill/>
        </p:spPr>
        <p:txBody>
          <a:bodyPr wrap="square" rtlCol="0">
            <a:spAutoFit/>
          </a:bodyPr>
          <a:lstStyle/>
          <a:p>
            <a:pPr algn="r"/>
            <a:r>
              <a:rPr lang="en-US" dirty="0"/>
              <a:t>Confrontation of </a:t>
            </a:r>
            <a:r>
              <a:rPr lang="en-US" dirty="0" err="1"/>
              <a:t>Levenshtein</a:t>
            </a:r>
            <a:r>
              <a:rPr lang="en-US" dirty="0"/>
              <a:t> distance and </a:t>
            </a:r>
            <a:r>
              <a:rPr lang="en-US" dirty="0" err="1"/>
              <a:t>Bitap</a:t>
            </a:r>
            <a:endParaRPr lang="en-US" noProof="0" dirty="0"/>
          </a:p>
        </p:txBody>
      </p:sp>
      <p:sp>
        <p:nvSpPr>
          <p:cNvPr id="11" name="CasellaDiTesto 10"/>
          <p:cNvSpPr txBox="1"/>
          <p:nvPr/>
        </p:nvSpPr>
        <p:spPr>
          <a:xfrm>
            <a:off x="6168547" y="4590468"/>
            <a:ext cx="2375970" cy="338554"/>
          </a:xfrm>
          <a:prstGeom prst="rect">
            <a:avLst/>
          </a:prstGeom>
          <a:noFill/>
        </p:spPr>
        <p:txBody>
          <a:bodyPr wrap="none" rtlCol="0">
            <a:spAutoFit/>
          </a:bodyPr>
          <a:lstStyle/>
          <a:p>
            <a:pPr algn="r"/>
            <a:r>
              <a:rPr lang="en-US" sz="1600" b="1" noProof="0" dirty="0" err="1">
                <a:latin typeface=""/>
              </a:rPr>
              <a:t>Relatore</a:t>
            </a:r>
            <a:r>
              <a:rPr lang="en-US" sz="1600" b="1" noProof="0" dirty="0">
                <a:latin typeface=""/>
              </a:rPr>
              <a:t> Bertini Marco</a:t>
            </a:r>
          </a:p>
        </p:txBody>
      </p:sp>
      <p:sp>
        <p:nvSpPr>
          <p:cNvPr id="15" name="CasellaDiTesto 14"/>
          <p:cNvSpPr txBox="1"/>
          <p:nvPr/>
        </p:nvSpPr>
        <p:spPr>
          <a:xfrm>
            <a:off x="4132793" y="1990303"/>
            <a:ext cx="4411724" cy="1077218"/>
          </a:xfrm>
          <a:prstGeom prst="rect">
            <a:avLst/>
          </a:prstGeom>
          <a:noFill/>
        </p:spPr>
        <p:txBody>
          <a:bodyPr wrap="square" rtlCol="0">
            <a:spAutoFit/>
          </a:bodyPr>
          <a:lstStyle/>
          <a:p>
            <a:pPr algn="r"/>
            <a:r>
              <a:rPr lang="en-US" sz="3200" b="1" noProof="0">
                <a:solidFill>
                  <a:schemeClr val="accent1">
                    <a:lumMod val="75000"/>
                  </a:schemeClr>
                </a:solidFill>
                <a:latin typeface=""/>
              </a:rPr>
              <a:t>Parallelization of String Searching</a:t>
            </a:r>
          </a:p>
        </p:txBody>
      </p:sp>
    </p:spTree>
    <p:extLst>
      <p:ext uri="{BB962C8B-B14F-4D97-AF65-F5344CB8AC3E}">
        <p14:creationId xmlns:p14="http://schemas.microsoft.com/office/powerpoint/2010/main" val="3311714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a:fillRect/>
          </a:stretch>
        </p:blipFill>
        <p:spPr>
          <a:xfrm>
            <a:off x="0" y="1707"/>
            <a:ext cx="9180512" cy="6872633"/>
          </a:xfrm>
          <a:prstGeom prst="rect">
            <a:avLst/>
          </a:prstGeom>
        </p:spPr>
      </p:pic>
      <p:sp>
        <p:nvSpPr>
          <p:cNvPr id="7" name="CasellaDiTesto 6"/>
          <p:cNvSpPr txBox="1"/>
          <p:nvPr/>
        </p:nvSpPr>
        <p:spPr>
          <a:xfrm>
            <a:off x="648253" y="130540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Project Goal</a:t>
            </a:r>
          </a:p>
        </p:txBody>
      </p:sp>
      <p:sp>
        <p:nvSpPr>
          <p:cNvPr id="9" name="CasellaDiTesto 8"/>
          <p:cNvSpPr txBox="1"/>
          <p:nvPr/>
        </p:nvSpPr>
        <p:spPr>
          <a:xfrm>
            <a:off x="648253" y="2051270"/>
            <a:ext cx="7819027" cy="1200329"/>
          </a:xfrm>
          <a:prstGeom prst="rect">
            <a:avLst/>
          </a:prstGeom>
          <a:noFill/>
        </p:spPr>
        <p:txBody>
          <a:bodyPr wrap="square" rtlCol="0">
            <a:spAutoFit/>
          </a:bodyPr>
          <a:lstStyle/>
          <a:p>
            <a:pPr marL="285750" indent="-285750" algn="just">
              <a:buFont typeface="Arial" panose="020B0604020202020204" pitchFamily="34" charset="0"/>
              <a:buChar char="•"/>
            </a:pPr>
            <a:r>
              <a:rPr lang="en-US" noProof="0" dirty="0"/>
              <a:t>Implement string searching via </a:t>
            </a:r>
            <a:r>
              <a:rPr lang="en-US" noProof="0" dirty="0" err="1"/>
              <a:t>Levenshtein</a:t>
            </a:r>
            <a:r>
              <a:rPr lang="en-US" noProof="0" dirty="0"/>
              <a:t> Distance and </a:t>
            </a:r>
            <a:r>
              <a:rPr lang="en-US" noProof="0" dirty="0" err="1"/>
              <a:t>Bitap</a:t>
            </a:r>
            <a:r>
              <a:rPr lang="en-US" noProof="0" dirty="0"/>
              <a:t> Algorithm           </a:t>
            </a:r>
            <a:endParaRPr lang="en-US" dirty="0"/>
          </a:p>
          <a:p>
            <a:pPr marL="285750" indent="-285750" algn="just">
              <a:buFont typeface="Arial" panose="020B0604020202020204" pitchFamily="34" charset="0"/>
              <a:buChar char="•"/>
            </a:pPr>
            <a:r>
              <a:rPr lang="en-US" noProof="0" dirty="0"/>
              <a:t>Speed up by </a:t>
            </a:r>
            <a:r>
              <a:rPr lang="en-US" noProof="0" dirty="0" err="1"/>
              <a:t>Multiprocess</a:t>
            </a:r>
            <a:r>
              <a:rPr lang="en-US" noProof="0" dirty="0"/>
              <a:t> Python library</a:t>
            </a:r>
          </a:p>
          <a:p>
            <a:pPr marL="285750" indent="-285750" algn="just">
              <a:buFont typeface="Arial" panose="020B0604020202020204" pitchFamily="34" charset="0"/>
              <a:buChar char="•"/>
            </a:pPr>
            <a:r>
              <a:rPr lang="en-US" dirty="0"/>
              <a:t>Confront them by using string generation and real sentences dataset</a:t>
            </a:r>
          </a:p>
          <a:p>
            <a:pPr marL="285750" indent="-285750" algn="just">
              <a:buFont typeface="Arial" panose="020B0604020202020204" pitchFamily="34" charset="0"/>
              <a:buChar char="•"/>
            </a:pPr>
            <a:r>
              <a:rPr lang="en-US" noProof="0" dirty="0"/>
              <a:t>Confront to sequential version algorithms</a:t>
            </a:r>
          </a:p>
        </p:txBody>
      </p:sp>
      <p:sp>
        <p:nvSpPr>
          <p:cNvPr id="12" name="Rettangolo 11"/>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2</a:t>
            </a:fld>
            <a:endParaRPr lang="en-US" b="1" noProof="0" dirty="0">
              <a:solidFill>
                <a:schemeClr val="bg1"/>
              </a:solidFill>
              <a:latin typeface="Arial"/>
              <a:cs typeface="Arial"/>
            </a:endParaRPr>
          </a:p>
        </p:txBody>
      </p:sp>
    </p:spTree>
    <p:extLst>
      <p:ext uri="{BB962C8B-B14F-4D97-AF65-F5344CB8AC3E}">
        <p14:creationId xmlns:p14="http://schemas.microsoft.com/office/powerpoint/2010/main" val="301643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E1F28-3D53-F18F-64E3-A3D7C4FA61A1}"/>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934EED18-85B9-91AD-F90A-AF0D9CAA5E41}"/>
              </a:ext>
            </a:extLst>
          </p:cNvPr>
          <p:cNvPicPr>
            <a:picLocks noChangeAspect="1"/>
          </p:cNvPicPr>
          <p:nvPr/>
        </p:nvPicPr>
        <p:blipFill>
          <a:blip r:embed="rId3"/>
          <a:stretch>
            <a:fillRect/>
          </a:stretch>
        </p:blipFill>
        <p:spPr>
          <a:xfrm>
            <a:off x="0" y="1707"/>
            <a:ext cx="9180512" cy="6872633"/>
          </a:xfrm>
          <a:prstGeom prst="rect">
            <a:avLst/>
          </a:prstGeom>
        </p:spPr>
      </p:pic>
      <p:sp>
        <p:nvSpPr>
          <p:cNvPr id="7" name="CasellaDiTesto 6">
            <a:extLst>
              <a:ext uri="{FF2B5EF4-FFF2-40B4-BE49-F238E27FC236}">
                <a16:creationId xmlns:a16="http://schemas.microsoft.com/office/drawing/2014/main" id="{2B9A42E0-6F9A-AE22-EC8B-969B1DDDF385}"/>
              </a:ext>
            </a:extLst>
          </p:cNvPr>
          <p:cNvSpPr txBox="1"/>
          <p:nvPr/>
        </p:nvSpPr>
        <p:spPr>
          <a:xfrm>
            <a:off x="648253" y="1305402"/>
            <a:ext cx="4663050" cy="461665"/>
          </a:xfrm>
          <a:prstGeom prst="rect">
            <a:avLst/>
          </a:prstGeom>
          <a:noFill/>
        </p:spPr>
        <p:txBody>
          <a:bodyPr wrap="square" rtlCol="0">
            <a:spAutoFit/>
          </a:bodyPr>
          <a:lstStyle/>
          <a:p>
            <a:r>
              <a:rPr lang="en-US" sz="2400" b="1" noProof="0" dirty="0" err="1">
                <a:solidFill>
                  <a:schemeClr val="accent1">
                    <a:lumMod val="75000"/>
                  </a:schemeClr>
                </a:solidFill>
                <a:latin typeface="Arial"/>
                <a:cs typeface="Arial"/>
              </a:rPr>
              <a:t>Levenshtein</a:t>
            </a:r>
            <a:r>
              <a:rPr lang="en-US" sz="2400" b="1" noProof="0" dirty="0">
                <a:solidFill>
                  <a:schemeClr val="accent1">
                    <a:lumMod val="75000"/>
                  </a:schemeClr>
                </a:solidFill>
                <a:latin typeface="Arial"/>
                <a:cs typeface="Arial"/>
              </a:rPr>
              <a:t> vs </a:t>
            </a:r>
            <a:r>
              <a:rPr lang="en-US" sz="2400" b="1" noProof="0" dirty="0" err="1">
                <a:solidFill>
                  <a:schemeClr val="accent1">
                    <a:lumMod val="75000"/>
                  </a:schemeClr>
                </a:solidFill>
                <a:latin typeface="Arial"/>
                <a:cs typeface="Arial"/>
              </a:rPr>
              <a:t>Bitap</a:t>
            </a:r>
            <a:endParaRPr lang="en-US" sz="2400" b="1" noProof="0" dirty="0">
              <a:solidFill>
                <a:schemeClr val="accent1">
                  <a:lumMod val="75000"/>
                </a:schemeClr>
              </a:solidFill>
              <a:latin typeface="Arial"/>
              <a:cs typeface="Arial"/>
            </a:endParaRPr>
          </a:p>
        </p:txBody>
      </p:sp>
      <p:sp>
        <p:nvSpPr>
          <p:cNvPr id="9" name="CasellaDiTesto 8">
            <a:extLst>
              <a:ext uri="{FF2B5EF4-FFF2-40B4-BE49-F238E27FC236}">
                <a16:creationId xmlns:a16="http://schemas.microsoft.com/office/drawing/2014/main" id="{A3DDDEB4-2DA2-79EB-1C02-7C9BE4014807}"/>
              </a:ext>
            </a:extLst>
          </p:cNvPr>
          <p:cNvSpPr txBox="1"/>
          <p:nvPr/>
        </p:nvSpPr>
        <p:spPr>
          <a:xfrm>
            <a:off x="648253" y="2051270"/>
            <a:ext cx="7819027" cy="3139321"/>
          </a:xfrm>
          <a:prstGeom prst="rect">
            <a:avLst/>
          </a:prstGeom>
          <a:noFill/>
        </p:spPr>
        <p:txBody>
          <a:bodyPr wrap="square" rtlCol="0">
            <a:spAutoFit/>
          </a:bodyPr>
          <a:lstStyle/>
          <a:p>
            <a:pPr algn="just"/>
            <a:r>
              <a:rPr lang="en-US" dirty="0"/>
              <a:t>The </a:t>
            </a:r>
            <a:r>
              <a:rPr lang="en-US" dirty="0" err="1"/>
              <a:t>Levenshtein</a:t>
            </a:r>
            <a:r>
              <a:rPr lang="en-US" dirty="0"/>
              <a:t> distance is a string metric for measuring the difference between two sequences. The </a:t>
            </a:r>
            <a:r>
              <a:rPr lang="en-US" dirty="0" err="1"/>
              <a:t>Levenshtein</a:t>
            </a:r>
            <a:r>
              <a:rPr lang="en-US" dirty="0"/>
              <a:t> distance between two words is the minimum number of single-character edits (insertions, deletions or substitutions) required to change one word into the other.</a:t>
            </a:r>
          </a:p>
          <a:p>
            <a:pPr algn="just"/>
            <a:endParaRPr lang="en-US" noProof="0" dirty="0"/>
          </a:p>
          <a:p>
            <a:pPr algn="just"/>
            <a:r>
              <a:rPr lang="en-US" dirty="0"/>
              <a:t>The </a:t>
            </a:r>
            <a:r>
              <a:rPr lang="en-US" dirty="0" err="1"/>
              <a:t>bitap</a:t>
            </a:r>
            <a:r>
              <a:rPr lang="en-US" dirty="0"/>
              <a:t> algorithm is an approximate string matching algorithm. The algorithm tells whether a given text contains a substring which is "approximately equal" to a given pattern, where approximate equality is defined in terms of </a:t>
            </a:r>
            <a:r>
              <a:rPr lang="en-US" dirty="0" err="1"/>
              <a:t>Levenshtein</a:t>
            </a:r>
            <a:r>
              <a:rPr lang="en-US" dirty="0"/>
              <a:t> distance – if the substring and pattern are within a given distance k of each other, then the algorithm considers them equal.</a:t>
            </a:r>
          </a:p>
          <a:p>
            <a:pPr algn="just"/>
            <a:r>
              <a:rPr lang="en-US" dirty="0"/>
              <a:t>The string searching program “</a:t>
            </a:r>
            <a:r>
              <a:rPr lang="en-US" dirty="0" err="1"/>
              <a:t>agrep</a:t>
            </a:r>
            <a:r>
              <a:rPr lang="en-US" dirty="0"/>
              <a:t>” is based on this algorithm. </a:t>
            </a:r>
            <a:endParaRPr lang="en-US" noProof="0" dirty="0"/>
          </a:p>
        </p:txBody>
      </p:sp>
      <p:sp>
        <p:nvSpPr>
          <p:cNvPr id="12" name="Rettangolo 11">
            <a:extLst>
              <a:ext uri="{FF2B5EF4-FFF2-40B4-BE49-F238E27FC236}">
                <a16:creationId xmlns:a16="http://schemas.microsoft.com/office/drawing/2014/main" id="{67F5E6E7-3E5D-F0CA-AFA6-866833B1224A}"/>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E0057259-E59D-91B8-38E8-BAE5A6FC5832}"/>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3</a:t>
            </a:fld>
            <a:endParaRPr lang="en-US" b="1" noProof="0" dirty="0">
              <a:solidFill>
                <a:schemeClr val="bg1"/>
              </a:solidFill>
              <a:latin typeface="Arial"/>
              <a:cs typeface="Arial"/>
            </a:endParaRPr>
          </a:p>
        </p:txBody>
      </p:sp>
    </p:spTree>
    <p:extLst>
      <p:ext uri="{BB962C8B-B14F-4D97-AF65-F5344CB8AC3E}">
        <p14:creationId xmlns:p14="http://schemas.microsoft.com/office/powerpoint/2010/main" val="1240867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86AEA-F40C-24A7-0ECB-BF423F4F1A70}"/>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54EBD4E6-BEC4-7F40-9243-E2F90B12694C}"/>
              </a:ext>
            </a:extLst>
          </p:cNvPr>
          <p:cNvPicPr>
            <a:picLocks noChangeAspect="1"/>
          </p:cNvPicPr>
          <p:nvPr/>
        </p:nvPicPr>
        <p:blipFill>
          <a:blip r:embed="rId3"/>
          <a:stretch>
            <a:fillRect/>
          </a:stretch>
        </p:blipFill>
        <p:spPr>
          <a:xfrm>
            <a:off x="0" y="1707"/>
            <a:ext cx="9180512" cy="6872633"/>
          </a:xfrm>
          <a:prstGeom prst="rect">
            <a:avLst/>
          </a:prstGeom>
        </p:spPr>
      </p:pic>
      <p:sp>
        <p:nvSpPr>
          <p:cNvPr id="7" name="CasellaDiTesto 6">
            <a:extLst>
              <a:ext uri="{FF2B5EF4-FFF2-40B4-BE49-F238E27FC236}">
                <a16:creationId xmlns:a16="http://schemas.microsoft.com/office/drawing/2014/main" id="{631B876D-CA01-7977-20ED-D3AAD3B844CD}"/>
              </a:ext>
            </a:extLst>
          </p:cNvPr>
          <p:cNvSpPr txBox="1"/>
          <p:nvPr/>
        </p:nvSpPr>
        <p:spPr>
          <a:xfrm>
            <a:off x="648253" y="1305402"/>
            <a:ext cx="4663050" cy="461665"/>
          </a:xfrm>
          <a:prstGeom prst="rect">
            <a:avLst/>
          </a:prstGeom>
          <a:noFill/>
        </p:spPr>
        <p:txBody>
          <a:bodyPr wrap="square" rtlCol="0">
            <a:spAutoFit/>
          </a:bodyPr>
          <a:lstStyle/>
          <a:p>
            <a:r>
              <a:rPr lang="en-US" sz="2400" b="1" noProof="0" dirty="0" err="1">
                <a:solidFill>
                  <a:schemeClr val="accent1">
                    <a:lumMod val="75000"/>
                  </a:schemeClr>
                </a:solidFill>
                <a:latin typeface="Arial"/>
                <a:cs typeface="Arial"/>
              </a:rPr>
              <a:t>Levenshtein</a:t>
            </a:r>
            <a:r>
              <a:rPr lang="en-US" sz="2400" b="1" noProof="0" dirty="0">
                <a:solidFill>
                  <a:schemeClr val="accent1">
                    <a:lumMod val="75000"/>
                  </a:schemeClr>
                </a:solidFill>
                <a:latin typeface="Arial"/>
                <a:cs typeface="Arial"/>
              </a:rPr>
              <a:t> vs </a:t>
            </a:r>
            <a:r>
              <a:rPr lang="en-US" sz="2400" b="1" noProof="0" dirty="0" err="1">
                <a:solidFill>
                  <a:schemeClr val="accent1">
                    <a:lumMod val="75000"/>
                  </a:schemeClr>
                </a:solidFill>
                <a:latin typeface="Arial"/>
                <a:cs typeface="Arial"/>
              </a:rPr>
              <a:t>Bitap</a:t>
            </a:r>
            <a:endParaRPr lang="en-US" sz="2400" b="1" noProof="0" dirty="0">
              <a:solidFill>
                <a:schemeClr val="accent1">
                  <a:lumMod val="75000"/>
                </a:schemeClr>
              </a:solidFill>
              <a:latin typeface="Arial"/>
              <a:cs typeface="Arial"/>
            </a:endParaRPr>
          </a:p>
        </p:txBody>
      </p:sp>
      <p:sp>
        <p:nvSpPr>
          <p:cNvPr id="12" name="Rettangolo 11">
            <a:extLst>
              <a:ext uri="{FF2B5EF4-FFF2-40B4-BE49-F238E27FC236}">
                <a16:creationId xmlns:a16="http://schemas.microsoft.com/office/drawing/2014/main" id="{AF65CD92-714A-D8BA-2926-DB60F3B38F5A}"/>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1790D09B-0080-8A1A-320F-4DEC97118260}"/>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4</a:t>
            </a:fld>
            <a:endParaRPr lang="en-US" b="1" noProof="0" dirty="0">
              <a:solidFill>
                <a:schemeClr val="bg1"/>
              </a:solidFill>
              <a:latin typeface="Arial"/>
              <a:cs typeface="Arial"/>
            </a:endParaRPr>
          </a:p>
        </p:txBody>
      </p:sp>
      <p:pic>
        <p:nvPicPr>
          <p:cNvPr id="4" name="Immagine 3" descr="Immagine che contiene testo, schermata, Rettangolo, quadrato&#10;&#10;Il contenuto generato dall'IA potrebbe non essere corretto.">
            <a:extLst>
              <a:ext uri="{FF2B5EF4-FFF2-40B4-BE49-F238E27FC236}">
                <a16:creationId xmlns:a16="http://schemas.microsoft.com/office/drawing/2014/main" id="{CCFAA3DB-684B-FB0C-DE17-EB459A514E50}"/>
              </a:ext>
            </a:extLst>
          </p:cNvPr>
          <p:cNvPicPr>
            <a:picLocks noChangeAspect="1"/>
          </p:cNvPicPr>
          <p:nvPr/>
        </p:nvPicPr>
        <p:blipFill>
          <a:blip r:embed="rId4"/>
          <a:stretch>
            <a:fillRect/>
          </a:stretch>
        </p:blipFill>
        <p:spPr>
          <a:xfrm>
            <a:off x="1542256" y="1897582"/>
            <a:ext cx="6096000" cy="3975100"/>
          </a:xfrm>
          <a:prstGeom prst="rect">
            <a:avLst/>
          </a:prstGeom>
        </p:spPr>
      </p:pic>
    </p:spTree>
    <p:extLst>
      <p:ext uri="{BB962C8B-B14F-4D97-AF65-F5344CB8AC3E}">
        <p14:creationId xmlns:p14="http://schemas.microsoft.com/office/powerpoint/2010/main" val="1154522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7B16-A290-A953-B61B-3FE5F7E70EA4}"/>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A4831714-3899-DDC0-D521-DFF4A2E6825D}"/>
              </a:ext>
            </a:extLst>
          </p:cNvPr>
          <p:cNvPicPr>
            <a:picLocks noChangeAspect="1"/>
          </p:cNvPicPr>
          <p:nvPr/>
        </p:nvPicPr>
        <p:blipFill>
          <a:blip r:embed="rId3"/>
          <a:stretch>
            <a:fillRect/>
          </a:stretch>
        </p:blipFill>
        <p:spPr>
          <a:xfrm>
            <a:off x="0" y="1707"/>
            <a:ext cx="9180512" cy="6872633"/>
          </a:xfrm>
          <a:prstGeom prst="rect">
            <a:avLst/>
          </a:prstGeom>
        </p:spPr>
      </p:pic>
      <p:sp>
        <p:nvSpPr>
          <p:cNvPr id="7" name="CasellaDiTesto 6">
            <a:extLst>
              <a:ext uri="{FF2B5EF4-FFF2-40B4-BE49-F238E27FC236}">
                <a16:creationId xmlns:a16="http://schemas.microsoft.com/office/drawing/2014/main" id="{1AEEC236-D399-2AD8-35B3-4419EFA1AC26}"/>
              </a:ext>
            </a:extLst>
          </p:cNvPr>
          <p:cNvSpPr txBox="1"/>
          <p:nvPr/>
        </p:nvSpPr>
        <p:spPr>
          <a:xfrm>
            <a:off x="648253" y="130540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Python Multiprocessing</a:t>
            </a:r>
          </a:p>
        </p:txBody>
      </p:sp>
      <p:sp>
        <p:nvSpPr>
          <p:cNvPr id="9" name="CasellaDiTesto 8">
            <a:extLst>
              <a:ext uri="{FF2B5EF4-FFF2-40B4-BE49-F238E27FC236}">
                <a16:creationId xmlns:a16="http://schemas.microsoft.com/office/drawing/2014/main" id="{35DCC92A-4CD5-774F-A79B-6C2303994942}"/>
              </a:ext>
            </a:extLst>
          </p:cNvPr>
          <p:cNvSpPr txBox="1"/>
          <p:nvPr/>
        </p:nvSpPr>
        <p:spPr>
          <a:xfrm>
            <a:off x="648253" y="2051270"/>
            <a:ext cx="7819027" cy="2862322"/>
          </a:xfrm>
          <a:prstGeom prst="rect">
            <a:avLst/>
          </a:prstGeom>
          <a:noFill/>
        </p:spPr>
        <p:txBody>
          <a:bodyPr wrap="square" rtlCol="0">
            <a:spAutoFit/>
          </a:bodyPr>
          <a:lstStyle/>
          <a:p>
            <a:pPr algn="just"/>
            <a:r>
              <a:rPr lang="en-US" dirty="0"/>
              <a:t>multiprocessing is a package that supports spawning processes using an API similar to the threading module. The multiprocessing package offers both local and remote concurrency, effectively side-stepping the Global Interpreter Lock by using subprocesses instead of threads. Due to this, the multiprocessing module allows the programmer to fully leverage multiple processors on a given machine. It runs on both POSIX and Windows.</a:t>
            </a:r>
          </a:p>
          <a:p>
            <a:pPr algn="just"/>
            <a:endParaRPr lang="en-US" noProof="0" dirty="0"/>
          </a:p>
          <a:p>
            <a:pPr algn="just"/>
            <a:r>
              <a:rPr lang="en-US" dirty="0"/>
              <a:t>Since this type of operation is mostly CPU-bound, instead of divide the program in multi threads, it would be much efficient to use different processes to compute the string matching algorithms .</a:t>
            </a:r>
            <a:endParaRPr lang="en-US" noProof="0" dirty="0"/>
          </a:p>
        </p:txBody>
      </p:sp>
      <p:sp>
        <p:nvSpPr>
          <p:cNvPr id="12" name="Rettangolo 11">
            <a:extLst>
              <a:ext uri="{FF2B5EF4-FFF2-40B4-BE49-F238E27FC236}">
                <a16:creationId xmlns:a16="http://schemas.microsoft.com/office/drawing/2014/main" id="{9E578A05-017D-4BF7-D48A-260B6B934280}"/>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34122623-C959-28E2-4E85-348743F117A2}"/>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5</a:t>
            </a:fld>
            <a:endParaRPr lang="en-US" b="1" noProof="0" dirty="0">
              <a:solidFill>
                <a:schemeClr val="bg1"/>
              </a:solidFill>
              <a:latin typeface="Arial"/>
              <a:cs typeface="Arial"/>
            </a:endParaRPr>
          </a:p>
        </p:txBody>
      </p:sp>
    </p:spTree>
    <p:extLst>
      <p:ext uri="{BB962C8B-B14F-4D97-AF65-F5344CB8AC3E}">
        <p14:creationId xmlns:p14="http://schemas.microsoft.com/office/powerpoint/2010/main" val="562536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1425D-D02B-B322-94C2-446DA5FE9B91}"/>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42C5EF0D-0996-CD68-3D79-AB9CD68AA9DD}"/>
              </a:ext>
            </a:extLst>
          </p:cNvPr>
          <p:cNvPicPr>
            <a:picLocks noChangeAspect="1"/>
          </p:cNvPicPr>
          <p:nvPr/>
        </p:nvPicPr>
        <p:blipFill>
          <a:blip r:embed="rId3"/>
          <a:stretch>
            <a:fillRect/>
          </a:stretch>
        </p:blipFill>
        <p:spPr>
          <a:xfrm>
            <a:off x="0" y="1707"/>
            <a:ext cx="9180512" cy="6872633"/>
          </a:xfrm>
          <a:prstGeom prst="rect">
            <a:avLst/>
          </a:prstGeom>
        </p:spPr>
      </p:pic>
      <p:sp>
        <p:nvSpPr>
          <p:cNvPr id="7" name="CasellaDiTesto 6">
            <a:extLst>
              <a:ext uri="{FF2B5EF4-FFF2-40B4-BE49-F238E27FC236}">
                <a16:creationId xmlns:a16="http://schemas.microsoft.com/office/drawing/2014/main" id="{BA65B556-FCDA-C098-4469-1937821FD184}"/>
              </a:ext>
            </a:extLst>
          </p:cNvPr>
          <p:cNvSpPr txBox="1"/>
          <p:nvPr/>
        </p:nvSpPr>
        <p:spPr>
          <a:xfrm>
            <a:off x="648253" y="1305402"/>
            <a:ext cx="4663050" cy="830997"/>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Program steps and number of data</a:t>
            </a:r>
          </a:p>
        </p:txBody>
      </p:sp>
      <p:sp>
        <p:nvSpPr>
          <p:cNvPr id="9" name="CasellaDiTesto 8">
            <a:extLst>
              <a:ext uri="{FF2B5EF4-FFF2-40B4-BE49-F238E27FC236}">
                <a16:creationId xmlns:a16="http://schemas.microsoft.com/office/drawing/2014/main" id="{16AD0333-72AC-9DE3-F049-B35D756F840D}"/>
              </a:ext>
            </a:extLst>
          </p:cNvPr>
          <p:cNvSpPr txBox="1"/>
          <p:nvPr/>
        </p:nvSpPr>
        <p:spPr>
          <a:xfrm>
            <a:off x="648253" y="2051270"/>
            <a:ext cx="7819027" cy="3693319"/>
          </a:xfrm>
          <a:prstGeom prst="rect">
            <a:avLst/>
          </a:prstGeom>
          <a:noFill/>
        </p:spPr>
        <p:txBody>
          <a:bodyPr wrap="square" rtlCol="0">
            <a:spAutoFit/>
          </a:bodyPr>
          <a:lstStyle/>
          <a:p>
            <a:pPr algn="just"/>
            <a:r>
              <a:rPr lang="en-US" dirty="0"/>
              <a:t>The program follows this operations:</a:t>
            </a:r>
          </a:p>
          <a:p>
            <a:pPr marL="342900" indent="-342900" algn="just">
              <a:buFont typeface="+mj-lt"/>
              <a:buAutoNum type="arabicPeriod"/>
            </a:pPr>
            <a:r>
              <a:rPr lang="en-US" noProof="0" dirty="0"/>
              <a:t>First,  </a:t>
            </a:r>
            <a:r>
              <a:rPr lang="en-US" dirty="0"/>
              <a:t>the user chose to use a string generator or a fixed number of sentences inside a dataset</a:t>
            </a:r>
          </a:p>
          <a:p>
            <a:pPr marL="800100" lvl="1" indent="-342900" algn="just">
              <a:buFont typeface="+mj-lt"/>
              <a:buAutoNum type="arabicPeriod"/>
            </a:pPr>
            <a:r>
              <a:rPr lang="en-US" noProof="0" dirty="0"/>
              <a:t>In the first case, a dedicated function create a string to search and a dataset of random string</a:t>
            </a:r>
          </a:p>
          <a:p>
            <a:pPr marL="800100" lvl="1" indent="-342900" algn="just">
              <a:buFont typeface="+mj-lt"/>
              <a:buAutoNum type="arabicPeriod"/>
            </a:pPr>
            <a:r>
              <a:rPr lang="en-US" dirty="0"/>
              <a:t>Otherwise the user write a string to search inside the dataset using the two algorithms</a:t>
            </a:r>
          </a:p>
          <a:p>
            <a:pPr marL="342900" indent="-342900" algn="just">
              <a:buFont typeface="+mj-lt"/>
              <a:buAutoNum type="arabicPeriod"/>
            </a:pPr>
            <a:r>
              <a:rPr lang="en-US" dirty="0"/>
              <a:t>After that, the corpus of the dataset is divided in chunks of strings, that are passed at the processes for applying the algorithms rules</a:t>
            </a:r>
          </a:p>
          <a:p>
            <a:pPr marL="342900" indent="-342900" algn="just">
              <a:buFont typeface="+mj-lt"/>
              <a:buAutoNum type="arabicPeriod"/>
            </a:pPr>
            <a:r>
              <a:rPr lang="en-US" dirty="0"/>
              <a:t>A pool of processes, equal to the number of CPU cores minus 2, are created either cases for compute the </a:t>
            </a:r>
            <a:r>
              <a:rPr lang="en-US" dirty="0" err="1"/>
              <a:t>levenshtein</a:t>
            </a:r>
            <a:r>
              <a:rPr lang="en-US" dirty="0"/>
              <a:t> distance and </a:t>
            </a:r>
            <a:r>
              <a:rPr lang="en-US" dirty="0" err="1"/>
              <a:t>bitap</a:t>
            </a:r>
            <a:r>
              <a:rPr lang="en-US" dirty="0"/>
              <a:t> algorithm</a:t>
            </a:r>
          </a:p>
          <a:p>
            <a:pPr marL="342900" indent="-342900" algn="just">
              <a:buFont typeface="+mj-lt"/>
              <a:buAutoNum type="arabicPeriod"/>
            </a:pPr>
            <a:r>
              <a:rPr lang="en-US" dirty="0"/>
              <a:t>After the results print, the sequential version of the algorithms are executed for calculate the possible speed up </a:t>
            </a:r>
          </a:p>
        </p:txBody>
      </p:sp>
      <p:sp>
        <p:nvSpPr>
          <p:cNvPr id="12" name="Rettangolo 11">
            <a:extLst>
              <a:ext uri="{FF2B5EF4-FFF2-40B4-BE49-F238E27FC236}">
                <a16:creationId xmlns:a16="http://schemas.microsoft.com/office/drawing/2014/main" id="{58320808-5FFE-BC6B-749C-ACA4ED4CAC1F}"/>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497B7DB1-C6CF-1766-6002-2C4E3BC4C316}"/>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6</a:t>
            </a:fld>
            <a:endParaRPr lang="en-US" b="1" noProof="0" dirty="0">
              <a:solidFill>
                <a:schemeClr val="bg1"/>
              </a:solidFill>
              <a:latin typeface="Arial"/>
              <a:cs typeface="Arial"/>
            </a:endParaRPr>
          </a:p>
        </p:txBody>
      </p:sp>
    </p:spTree>
    <p:extLst>
      <p:ext uri="{BB962C8B-B14F-4D97-AF65-F5344CB8AC3E}">
        <p14:creationId xmlns:p14="http://schemas.microsoft.com/office/powerpoint/2010/main" val="883293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B4793-ACF1-9183-7922-78F12A57EC35}"/>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9837615D-8428-C120-3075-1C1FFA98BB57}"/>
              </a:ext>
            </a:extLst>
          </p:cNvPr>
          <p:cNvPicPr>
            <a:picLocks noChangeAspect="1"/>
          </p:cNvPicPr>
          <p:nvPr/>
        </p:nvPicPr>
        <p:blipFill>
          <a:blip r:embed="rId3"/>
          <a:stretch>
            <a:fillRect/>
          </a:stretch>
        </p:blipFill>
        <p:spPr>
          <a:xfrm>
            <a:off x="0" y="298547"/>
            <a:ext cx="9180512" cy="6872633"/>
          </a:xfrm>
          <a:prstGeom prst="rect">
            <a:avLst/>
          </a:prstGeom>
        </p:spPr>
      </p:pic>
      <p:sp>
        <p:nvSpPr>
          <p:cNvPr id="7" name="CasellaDiTesto 6">
            <a:extLst>
              <a:ext uri="{FF2B5EF4-FFF2-40B4-BE49-F238E27FC236}">
                <a16:creationId xmlns:a16="http://schemas.microsoft.com/office/drawing/2014/main" id="{CA8E7F0B-242A-F7FC-69CE-0A09204A053C}"/>
              </a:ext>
            </a:extLst>
          </p:cNvPr>
          <p:cNvSpPr txBox="1"/>
          <p:nvPr/>
        </p:nvSpPr>
        <p:spPr>
          <a:xfrm>
            <a:off x="648253" y="130540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Execution Results</a:t>
            </a:r>
          </a:p>
        </p:txBody>
      </p:sp>
      <p:sp>
        <p:nvSpPr>
          <p:cNvPr id="9" name="CasellaDiTesto 8">
            <a:extLst>
              <a:ext uri="{FF2B5EF4-FFF2-40B4-BE49-F238E27FC236}">
                <a16:creationId xmlns:a16="http://schemas.microsoft.com/office/drawing/2014/main" id="{EC294379-E55E-F5CA-4F6F-3E8C49264446}"/>
              </a:ext>
            </a:extLst>
          </p:cNvPr>
          <p:cNvSpPr txBox="1"/>
          <p:nvPr/>
        </p:nvSpPr>
        <p:spPr>
          <a:xfrm>
            <a:off x="648253" y="2051270"/>
            <a:ext cx="7819027" cy="923330"/>
          </a:xfrm>
          <a:prstGeom prst="rect">
            <a:avLst/>
          </a:prstGeom>
          <a:noFill/>
        </p:spPr>
        <p:txBody>
          <a:bodyPr wrap="square" rtlCol="0">
            <a:spAutoFit/>
          </a:bodyPr>
          <a:lstStyle/>
          <a:p>
            <a:pPr algn="just"/>
            <a:r>
              <a:rPr lang="en-US" dirty="0"/>
              <a:t>We </a:t>
            </a:r>
            <a:r>
              <a:rPr lang="en-US" dirty="0" err="1"/>
              <a:t>runned</a:t>
            </a:r>
            <a:r>
              <a:rPr lang="en-US" dirty="0"/>
              <a:t> the program either for random string and for a fixed dataset of 1000 string. The string function generates randomly 50000 strings  with 120 characters either and a single string.</a:t>
            </a:r>
          </a:p>
        </p:txBody>
      </p:sp>
      <p:sp>
        <p:nvSpPr>
          <p:cNvPr id="12" name="Rettangolo 11">
            <a:extLst>
              <a:ext uri="{FF2B5EF4-FFF2-40B4-BE49-F238E27FC236}">
                <a16:creationId xmlns:a16="http://schemas.microsoft.com/office/drawing/2014/main" id="{561F7478-A9F2-EA42-3E84-8DB8F68E72D6}"/>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2A493D74-CEA8-DA55-2142-EEC0AF198962}"/>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7</a:t>
            </a:fld>
            <a:endParaRPr lang="en-US" b="1" noProof="0" dirty="0">
              <a:solidFill>
                <a:schemeClr val="bg1"/>
              </a:solidFill>
              <a:latin typeface="Arial"/>
              <a:cs typeface="Arial"/>
            </a:endParaRPr>
          </a:p>
        </p:txBody>
      </p:sp>
      <p:graphicFrame>
        <p:nvGraphicFramePr>
          <p:cNvPr id="3" name="Tabella 2">
            <a:extLst>
              <a:ext uri="{FF2B5EF4-FFF2-40B4-BE49-F238E27FC236}">
                <a16:creationId xmlns:a16="http://schemas.microsoft.com/office/drawing/2014/main" id="{3559ACA0-406F-6A06-E963-DF8B120D46D0}"/>
              </a:ext>
            </a:extLst>
          </p:cNvPr>
          <p:cNvGraphicFramePr>
            <a:graphicFrameLocks noGrp="1"/>
          </p:cNvGraphicFramePr>
          <p:nvPr>
            <p:extLst>
              <p:ext uri="{D42A27DB-BD31-4B8C-83A1-F6EECF244321}">
                <p14:modId xmlns:p14="http://schemas.microsoft.com/office/powerpoint/2010/main" val="26611506"/>
              </p:ext>
            </p:extLst>
          </p:nvPr>
        </p:nvGraphicFramePr>
        <p:xfrm>
          <a:off x="1542256" y="3310861"/>
          <a:ext cx="6096000" cy="16205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541444765"/>
                    </a:ext>
                  </a:extLst>
                </a:gridCol>
                <a:gridCol w="1219200">
                  <a:extLst>
                    <a:ext uri="{9D8B030D-6E8A-4147-A177-3AD203B41FA5}">
                      <a16:colId xmlns:a16="http://schemas.microsoft.com/office/drawing/2014/main" val="1801190241"/>
                    </a:ext>
                  </a:extLst>
                </a:gridCol>
                <a:gridCol w="1219200">
                  <a:extLst>
                    <a:ext uri="{9D8B030D-6E8A-4147-A177-3AD203B41FA5}">
                      <a16:colId xmlns:a16="http://schemas.microsoft.com/office/drawing/2014/main" val="489265242"/>
                    </a:ext>
                  </a:extLst>
                </a:gridCol>
                <a:gridCol w="1219200">
                  <a:extLst>
                    <a:ext uri="{9D8B030D-6E8A-4147-A177-3AD203B41FA5}">
                      <a16:colId xmlns:a16="http://schemas.microsoft.com/office/drawing/2014/main" val="1870559593"/>
                    </a:ext>
                  </a:extLst>
                </a:gridCol>
                <a:gridCol w="1219200">
                  <a:extLst>
                    <a:ext uri="{9D8B030D-6E8A-4147-A177-3AD203B41FA5}">
                      <a16:colId xmlns:a16="http://schemas.microsoft.com/office/drawing/2014/main" val="3032197283"/>
                    </a:ext>
                  </a:extLst>
                </a:gridCol>
              </a:tblGrid>
              <a:tr h="370840">
                <a:tc>
                  <a:txBody>
                    <a:bodyPr/>
                    <a:lstStyle/>
                    <a:p>
                      <a:pPr algn="ctr"/>
                      <a:r>
                        <a:rPr lang="en-US" sz="1400" noProof="0" dirty="0"/>
                        <a:t>Operation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err="1"/>
                        <a:t>Levenshtein</a:t>
                      </a:r>
                      <a:r>
                        <a:rPr lang="en-US" sz="1400" noProof="0" dirty="0"/>
                        <a:t> </a:t>
                      </a:r>
                    </a:p>
                    <a:p>
                      <a:pPr algn="ctr"/>
                      <a:r>
                        <a:rPr lang="en-US" sz="1400" noProof="0" dirty="0"/>
                        <a:t>Multi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err="1"/>
                        <a:t>Bitap</a:t>
                      </a:r>
                      <a:r>
                        <a:rPr lang="en-US" sz="1400" noProof="0" dirty="0"/>
                        <a:t> Multi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Sequential </a:t>
                      </a:r>
                      <a:r>
                        <a:rPr lang="en-US" sz="1400" noProof="0" dirty="0" err="1"/>
                        <a:t>Leveshtein</a:t>
                      </a:r>
                      <a:endParaRPr lang="en-US"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Sequential </a:t>
                      </a:r>
                      <a:r>
                        <a:rPr lang="en-US" sz="1400" noProof="0" dirty="0" err="1"/>
                        <a:t>Bitap</a:t>
                      </a:r>
                      <a:endParaRPr lang="en-US"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2565857"/>
                  </a:ext>
                </a:extLst>
              </a:tr>
              <a:tr h="370840">
                <a:tc>
                  <a:txBody>
                    <a:bodyPr/>
                    <a:lstStyle/>
                    <a:p>
                      <a:pPr algn="ctr"/>
                      <a:r>
                        <a:rPr lang="en-US" sz="1400" noProof="0" dirty="0"/>
                        <a:t>Random 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16.936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0.695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108.304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3.120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136102"/>
                  </a:ext>
                </a:extLst>
              </a:tr>
              <a:tr h="370840">
                <a:tc>
                  <a:txBody>
                    <a:bodyPr/>
                    <a:lstStyle/>
                    <a:p>
                      <a:pPr algn="ctr"/>
                      <a:r>
                        <a:rPr lang="en-US" sz="1400" noProof="0" dirty="0"/>
                        <a:t>Real 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0.239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0.207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0.021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t>0.022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5709861"/>
                  </a:ext>
                </a:extLst>
              </a:tr>
            </a:tbl>
          </a:graphicData>
        </a:graphic>
      </p:graphicFrame>
    </p:spTree>
    <p:extLst>
      <p:ext uri="{BB962C8B-B14F-4D97-AF65-F5344CB8AC3E}">
        <p14:creationId xmlns:p14="http://schemas.microsoft.com/office/powerpoint/2010/main" val="3904692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C7C62-A8F5-07EC-ED49-7A7CC5FAF795}"/>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98F80FCD-BA08-3B75-742A-B474DA6B83C1}"/>
              </a:ext>
            </a:extLst>
          </p:cNvPr>
          <p:cNvPicPr>
            <a:picLocks noChangeAspect="1"/>
          </p:cNvPicPr>
          <p:nvPr/>
        </p:nvPicPr>
        <p:blipFill>
          <a:blip r:embed="rId3"/>
          <a:stretch>
            <a:fillRect/>
          </a:stretch>
        </p:blipFill>
        <p:spPr>
          <a:xfrm>
            <a:off x="0" y="1707"/>
            <a:ext cx="9180512" cy="6872633"/>
          </a:xfrm>
          <a:prstGeom prst="rect">
            <a:avLst/>
          </a:prstGeom>
        </p:spPr>
      </p:pic>
      <p:sp>
        <p:nvSpPr>
          <p:cNvPr id="7" name="CasellaDiTesto 6">
            <a:extLst>
              <a:ext uri="{FF2B5EF4-FFF2-40B4-BE49-F238E27FC236}">
                <a16:creationId xmlns:a16="http://schemas.microsoft.com/office/drawing/2014/main" id="{B6033221-C1A1-FC2C-8E55-3A9D3E68928A}"/>
              </a:ext>
            </a:extLst>
          </p:cNvPr>
          <p:cNvSpPr txBox="1"/>
          <p:nvPr/>
        </p:nvSpPr>
        <p:spPr>
          <a:xfrm>
            <a:off x="648253" y="130540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Conclusion</a:t>
            </a:r>
          </a:p>
        </p:txBody>
      </p:sp>
      <p:sp>
        <p:nvSpPr>
          <p:cNvPr id="9" name="CasellaDiTesto 8">
            <a:extLst>
              <a:ext uri="{FF2B5EF4-FFF2-40B4-BE49-F238E27FC236}">
                <a16:creationId xmlns:a16="http://schemas.microsoft.com/office/drawing/2014/main" id="{13A77C66-48EC-2C1A-EDD9-18C1161F3B06}"/>
              </a:ext>
            </a:extLst>
          </p:cNvPr>
          <p:cNvSpPr txBox="1"/>
          <p:nvPr/>
        </p:nvSpPr>
        <p:spPr>
          <a:xfrm>
            <a:off x="648253" y="1767067"/>
            <a:ext cx="7819027" cy="1754326"/>
          </a:xfrm>
          <a:prstGeom prst="rect">
            <a:avLst/>
          </a:prstGeom>
          <a:noFill/>
        </p:spPr>
        <p:txBody>
          <a:bodyPr wrap="square" rtlCol="0">
            <a:spAutoFit/>
          </a:bodyPr>
          <a:lstStyle/>
          <a:p>
            <a:pPr algn="just"/>
            <a:r>
              <a:rPr lang="en-US" dirty="0"/>
              <a:t>The real words dataset case performs slightly worse than the sequential version. This is caused by the fact that the context switching of the CPU and the chunk change and assignment tend to increase the time needed for completion.</a:t>
            </a:r>
          </a:p>
          <a:p>
            <a:pPr algn="just"/>
            <a:endParaRPr lang="en-US" dirty="0"/>
          </a:p>
          <a:p>
            <a:pPr algn="just"/>
            <a:r>
              <a:rPr lang="en-US" dirty="0"/>
              <a:t>A further upgrade of the programs would be a dataset with much more entries for really use the advantages of dividing the program into multi processes.</a:t>
            </a:r>
          </a:p>
        </p:txBody>
      </p:sp>
      <p:sp>
        <p:nvSpPr>
          <p:cNvPr id="12" name="Rettangolo 11">
            <a:extLst>
              <a:ext uri="{FF2B5EF4-FFF2-40B4-BE49-F238E27FC236}">
                <a16:creationId xmlns:a16="http://schemas.microsoft.com/office/drawing/2014/main" id="{69806CB0-8B6E-C129-4BB2-1650CFF6668E}"/>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1EE41816-043B-EEE8-25C5-5127F85FFD74}"/>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8</a:t>
            </a:fld>
            <a:endParaRPr lang="en-US" b="1" noProof="0" dirty="0">
              <a:solidFill>
                <a:schemeClr val="bg1"/>
              </a:solidFill>
              <a:latin typeface="Arial"/>
              <a:cs typeface="Arial"/>
            </a:endParaRPr>
          </a:p>
        </p:txBody>
      </p:sp>
    </p:spTree>
    <p:extLst>
      <p:ext uri="{BB962C8B-B14F-4D97-AF65-F5344CB8AC3E}">
        <p14:creationId xmlns:p14="http://schemas.microsoft.com/office/powerpoint/2010/main" val="262847190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644</TotalTime>
  <Words>563</Words>
  <Application>Microsoft Macintosh PowerPoint</Application>
  <PresentationFormat>Presentazione su schermo (4:3)</PresentationFormat>
  <Paragraphs>62</Paragraphs>
  <Slides>8</Slides>
  <Notes>7</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8</vt:i4>
      </vt:variant>
    </vt:vector>
  </HeadingPairs>
  <TitlesOfParts>
    <vt:vector size="11" baseType="lpstr">
      <vt:lpstr>Arial</vt:lpstr>
      <vt:lpstr>Calibri</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di PowerPoint</dc:title>
  <dc:creator>susanna</dc:creator>
  <cp:lastModifiedBy>Cristiano Narducci</cp:lastModifiedBy>
  <cp:revision>29</cp:revision>
  <dcterms:created xsi:type="dcterms:W3CDTF">2012-12-06T09:21:12Z</dcterms:created>
  <dcterms:modified xsi:type="dcterms:W3CDTF">2026-01-11T21:20:43Z</dcterms:modified>
</cp:coreProperties>
</file>